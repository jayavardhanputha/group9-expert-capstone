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21040" y="960120"/>
            <a:ext cx="2194560" cy="118872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1289304"/>
            <a:ext cx="2194560" cy="118872"/>
          </a:xfrm>
          <a:prstGeom prst="rect">
            <a:avLst/>
          </a:prstGeom>
          <a:solidFill>
            <a:srgbClr val="5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509760" y="1618488"/>
            <a:ext cx="2194560" cy="118872"/>
          </a:xfrm>
          <a:prstGeom prst="rect">
            <a:avLst/>
          </a:prstGeom>
          <a:solidFill>
            <a:srgbClr val="47D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100" b="1">
                <a:solidFill>
                  <a:srgbClr val="39D3DE"/>
                </a:solidFill>
                <a:latin typeface="Aptos"/>
              </a:defRPr>
            </a:pPr>
            <a:r>
              <a:t>AZURE DEVSECOPS · CAPSTONE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3152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400" b="1">
                <a:solidFill>
                  <a:srgbClr val="F5F8FF"/>
                </a:solidFill>
                <a:latin typeface="Aptos"/>
              </a:defRPr>
            </a:pPr>
            <a:r>
              <a:t>Inventory Management</a:t>
            </a:r>
          </a:p>
          <a:p>
            <a:pPr algn="l">
              <a:defRPr sz="3400" b="1">
                <a:solidFill>
                  <a:srgbClr val="F5F8FF"/>
                </a:solidFill>
                <a:latin typeface="Aptos"/>
              </a:defRPr>
            </a:pPr>
            <a:r>
              <a:t>API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6858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900" b="0">
                <a:solidFill>
                  <a:srgbClr val="A6B7D3"/>
                </a:solidFill>
                <a:latin typeface="Aptos"/>
              </a:defRPr>
            </a:pPr>
            <a:r>
              <a:rPr dirty="0"/>
              <a:t>A secure-by-default delivery path—from pull request to an approval-gated Azure demo.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983480"/>
            <a:ext cx="2834640" cy="50292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5084064"/>
            <a:ext cx="2514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000" b="1">
                <a:solidFill>
                  <a:srgbClr val="39D3DE"/>
                </a:solidFill>
                <a:latin typeface="Aptos"/>
              </a:defRPr>
            </a:pPr>
            <a:r>
              <a:t>FLASK  ·  GITHUB ACTIONS  ·  TERRAFORM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900" b="0">
                <a:solidFill>
                  <a:srgbClr val="A6B7D3"/>
                </a:solidFill>
                <a:latin typeface="Aptos"/>
              </a:defRPr>
            </a:pPr>
            <a:r>
              <a:t>REFERENCE ARCHITECTURE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900" b="1">
                <a:solidFill>
                  <a:srgbClr val="39D3DE"/>
                </a:solidFill>
                <a:latin typeface="Aptos"/>
              </a:defRPr>
            </a:pPr>
            <a:r>
              <a:t>AZURE DEVSECOPS · INVENTORY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A small system that demonstrates the whole delivery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800" b="0">
                <a:solidFill>
                  <a:srgbClr val="A6B7D3"/>
                </a:solidFill>
                <a:latin typeface="Aptos"/>
              </a:defRPr>
            </a:pPr>
            <a:r>
              <a:t>CAPSTONE REFERENCE DESIGN  ·  DEMO SCOPE — NOT PRODUCTION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900" b="0">
                <a:solidFill>
                  <a:srgbClr val="A6B7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64008" cy="1874519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27048"/>
            <a:ext cx="30815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20240"/>
            <a:ext cx="3063240" cy="12710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Flask REST API for inventory CRUD</a:t>
            </a:r>
          </a:p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SQLite persistence for demo use</a:t>
            </a:r>
          </a:p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Containerized, non-root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417320"/>
            <a:ext cx="64008" cy="1874519"/>
          </a:xfrm>
          <a:prstGeom prst="rect">
            <a:avLst/>
          </a:prstGeom>
          <a:solidFill>
            <a:srgbClr val="5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27048"/>
            <a:ext cx="30815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Engineering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063240" cy="12710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Pull requests trigger tests, image build, security scans, and Terraform validation</a:t>
            </a:r>
          </a:p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No Azure credentials in normal 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4173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1417320"/>
            <a:ext cx="64008" cy="1874519"/>
          </a:xfrm>
          <a:prstGeom prst="rect">
            <a:avLst/>
          </a:prstGeom>
          <a:solidFill>
            <a:srgbClr val="47D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1527048"/>
            <a:ext cx="30815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Optional Azure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920240"/>
            <a:ext cx="3063240" cy="12710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Manual Terraform deployment to Container Apps</a:t>
            </a:r>
          </a:p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OIDC federation + protected approval</a:t>
            </a:r>
          </a:p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Resources are billable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881360" cy="1554480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00" b="1">
                <a:solidFill>
                  <a:srgbClr val="FFBE5C"/>
                </a:solidFill>
                <a:latin typeface="Aptos"/>
              </a:defRPr>
            </a:pPr>
            <a:r>
              <a:t>DESIGN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70832"/>
            <a:ext cx="99669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900" b="1">
                <a:solidFill>
                  <a:srgbClr val="F5F8FF"/>
                </a:solidFill>
                <a:latin typeface="Aptos"/>
              </a:defRPr>
            </a:pPr>
            <a:r>
              <a:t>Keep local development and CI useful without an Azure subscription; make cloud provisioning explicit, reviewable, and opt-in.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62356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The repository describes a teaching sample. The supplied specification files began as headings; the implementation is an explicit sample interpretation.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900" b="1">
                <a:solidFill>
                  <a:srgbClr val="39D3DE"/>
                </a:solidFill>
                <a:latin typeface="Aptos"/>
              </a:defRPr>
            </a:pPr>
            <a:r>
              <a:t>AZURE DEVSECOPS · INVENTORY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Architecture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800" b="0">
                <a:solidFill>
                  <a:srgbClr val="A6B7D3"/>
                </a:solidFill>
                <a:latin typeface="Aptos"/>
              </a:defRPr>
            </a:pPr>
            <a:r>
              <a:t>CAPSTONE REFERENCE DESIGN  ·  DEMO SCOPE — NOT PRODUCTION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900" b="0">
                <a:solidFill>
                  <a:srgbClr val="A6B7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42976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000" b="1">
                <a:solidFill>
                  <a:srgbClr val="39D3DE"/>
                </a:solidFill>
                <a:latin typeface="Aptos"/>
              </a:defRPr>
            </a:pPr>
            <a:r>
              <a:t>CHANGE + CONTINUOUS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64008" cy="822960"/>
          </a:xfrm>
          <a:prstGeom prst="rect">
            <a:avLst/>
          </a:prstGeom>
          <a:solidFill>
            <a:srgbClr val="5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01368"/>
            <a:ext cx="106984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1051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0">
                <a:solidFill>
                  <a:srgbClr val="A6B7D3"/>
                </a:solidFill>
                <a:latin typeface="Aptos"/>
              </a:defRPr>
            </a:pPr>
            <a:r>
              <a:t>Code ·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9152" y="169164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59152" y="1691640"/>
            <a:ext cx="64008" cy="822960"/>
          </a:xfrm>
          <a:prstGeom prst="rect">
            <a:avLst/>
          </a:prstGeom>
          <a:solidFill>
            <a:srgbClr val="5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1801368"/>
            <a:ext cx="106984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GitHub 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194560"/>
            <a:ext cx="1051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0">
                <a:solidFill>
                  <a:srgbClr val="A6B7D3"/>
                </a:solidFill>
                <a:latin typeface="Aptos"/>
              </a:defRPr>
            </a:pPr>
            <a:r>
              <a:t>Review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169164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23360" y="1691640"/>
            <a:ext cx="64008" cy="960120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24528" y="1801368"/>
            <a:ext cx="152704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194560"/>
            <a:ext cx="1508760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0">
                <a:solidFill>
                  <a:srgbClr val="A6B7D3"/>
                </a:solidFill>
                <a:latin typeface="Aptos"/>
              </a:defRPr>
            </a:pPr>
            <a:r>
              <a:t>API tests · build</a:t>
            </a:r>
          </a:p>
          <a:p>
            <a:pPr algn="l">
              <a:defRPr sz="1000" b="0">
                <a:solidFill>
                  <a:srgbClr val="A6B7D3"/>
                </a:solidFill>
                <a:latin typeface="Aptos"/>
              </a:defRPr>
            </a:pPr>
            <a:r>
              <a:t>Bandit · pip-audit</a:t>
            </a:r>
          </a:p>
          <a:p>
            <a:pPr algn="l">
              <a:defRPr sz="1000" b="0">
                <a:solidFill>
                  <a:srgbClr val="A6B7D3"/>
                </a:solidFill>
                <a:latin typeface="Aptos"/>
              </a:defRPr>
            </a:pPr>
            <a:r>
              <a:t>Terraform · docs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75688" y="2103120"/>
            <a:ext cx="256032" cy="0"/>
          </a:xfrm>
          <a:prstGeom prst="line">
            <a:avLst/>
          </a:prstGeom>
          <a:ln w="25400">
            <a:solidFill>
              <a:srgbClr val="59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76472" y="2103120"/>
            <a:ext cx="210312" cy="0"/>
          </a:xfrm>
          <a:prstGeom prst="line">
            <a:avLst/>
          </a:prstGeom>
          <a:ln w="25400">
            <a:solidFill>
              <a:srgbClr val="39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8368" y="324612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246120"/>
            <a:ext cx="64008" cy="100584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3355848"/>
            <a:ext cx="138988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Operator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749039"/>
            <a:ext cx="137160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Manual dispatch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324612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0" y="3246120"/>
            <a:ext cx="64008" cy="100584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44368" y="3355848"/>
            <a:ext cx="138988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GitHub OIDC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3749039"/>
            <a:ext cx="137160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Short-lived identity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324612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00600" y="3246120"/>
            <a:ext cx="64008" cy="100584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01768" y="3355848"/>
            <a:ext cx="138988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Terraform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1768" y="3749039"/>
            <a:ext cx="137160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0">
                <a:solidFill>
                  <a:srgbClr val="A6B7D3"/>
                </a:solidFill>
                <a:latin typeface="Aptos"/>
              </a:defRPr>
            </a:pPr>
            <a:r>
              <a:t>Plan → approval → apply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404872" y="3749039"/>
            <a:ext cx="310896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98848" y="3749039"/>
            <a:ext cx="274320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903720" y="1325880"/>
            <a:ext cx="4572000" cy="4251960"/>
          </a:xfrm>
          <a:prstGeom prst="roundRect">
            <a:avLst>
              <a:gd name="adj" fmla="val 12000"/>
            </a:avLst>
          </a:prstGeom>
          <a:solidFill>
            <a:srgbClr val="0F1E30"/>
          </a:solidFill>
          <a:ln w="15240">
            <a:solidFill>
              <a:srgbClr val="39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78040" y="1508760"/>
            <a:ext cx="3977639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000" b="1">
                <a:solidFill>
                  <a:srgbClr val="39D3DE"/>
                </a:solidFill>
                <a:latin typeface="Aptos"/>
              </a:defRPr>
            </a:pPr>
            <a:r>
              <a:t>AZURE SUBSCRIPTION · OPTIONAL DEMO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2011680"/>
            <a:ext cx="3749039" cy="100584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315200" y="2011680"/>
            <a:ext cx="64008" cy="1005840"/>
          </a:xfrm>
          <a:prstGeom prst="rect">
            <a:avLst/>
          </a:prstGeom>
          <a:solidFill>
            <a:srgbClr val="47D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16368" y="2121408"/>
            <a:ext cx="340156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Azure Container Apps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2514600"/>
            <a:ext cx="3383279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Public HTTP ingress · single replica · health probes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3429000"/>
            <a:ext cx="1737360" cy="105156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0" y="3429000"/>
            <a:ext cx="64008" cy="1051560"/>
          </a:xfrm>
          <a:prstGeom prst="rect">
            <a:avLst/>
          </a:prstGeom>
          <a:solidFill>
            <a:srgbClr val="5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16368" y="3538728"/>
            <a:ext cx="138988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Azure Files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6368" y="3931920"/>
            <a:ext cx="1371600" cy="4480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SQLite demo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0" y="3429000"/>
            <a:ext cx="1737360" cy="105156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326880" y="3429000"/>
            <a:ext cx="64008" cy="1051560"/>
          </a:xfrm>
          <a:prstGeom prst="rect">
            <a:avLst/>
          </a:prstGeom>
          <a:solidFill>
            <a:srgbClr val="5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28048" y="3538728"/>
            <a:ext cx="138988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Log Analytics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28048" y="3931920"/>
            <a:ext cx="1371600" cy="4480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Container logs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8183879" y="3044952"/>
            <a:ext cx="45721" cy="356616"/>
          </a:xfrm>
          <a:prstGeom prst="line">
            <a:avLst/>
          </a:prstGeom>
          <a:ln w="25400">
            <a:solidFill>
              <a:srgbClr val="47D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58400" y="3044952"/>
            <a:ext cx="91440" cy="356616"/>
          </a:xfrm>
          <a:prstGeom prst="line">
            <a:avLst/>
          </a:prstGeom>
          <a:ln w="25400">
            <a:solidFill>
              <a:srgbClr val="47D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547104" y="3749039"/>
            <a:ext cx="512064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178040" y="4892040"/>
            <a:ext cx="38862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000" b="0">
                <a:solidFill>
                  <a:srgbClr val="A6B7D3"/>
                </a:solidFill>
                <a:latin typeface="Aptos"/>
              </a:defRPr>
            </a:pPr>
            <a:r>
              <a:t>Terraform remote state: separately bootstrapped private Azure Blob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047488"/>
            <a:ext cx="58064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00" b="1">
                <a:solidFill>
                  <a:srgbClr val="A6B7D3"/>
                </a:solidFill>
                <a:latin typeface="Aptos"/>
              </a:defRPr>
            </a:pPr>
            <a:r>
              <a:t>PR/CI path does not authenticate to Azure or deploy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900" b="1">
                <a:solidFill>
                  <a:srgbClr val="39D3DE"/>
                </a:solidFill>
                <a:latin typeface="Aptos"/>
              </a:defRPr>
            </a:pPr>
            <a:r>
              <a:t>AZURE DEVSECOPS · INVENTORY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Continuous validation shifts risk left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800" b="0">
                <a:solidFill>
                  <a:srgbClr val="A6B7D3"/>
                </a:solidFill>
                <a:latin typeface="Aptos"/>
              </a:defRPr>
            </a:pPr>
            <a:r>
              <a:t>CAPSTONE REFERENCE DESIGN  ·  DEMO SCOPE — NOT PRODUCTION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900" b="0">
                <a:solidFill>
                  <a:srgbClr val="A6B7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956816" cy="182880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965960"/>
            <a:ext cx="438912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00" b="1">
                <a:solidFill>
                  <a:srgbClr val="5991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50008"/>
            <a:ext cx="162763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ptos"/>
              </a:defRPr>
            </a:pPr>
            <a:r>
              <a:t>Pull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807208"/>
            <a:ext cx="16276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Review change</a:t>
            </a:r>
          </a:p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Run workflows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24328" y="2743200"/>
            <a:ext cx="274320" cy="0"/>
          </a:xfrm>
          <a:prstGeom prst="line">
            <a:avLst/>
          </a:prstGeom>
          <a:ln w="20320">
            <a:solidFill>
              <a:srgbClr val="59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44368" y="1828800"/>
            <a:ext cx="1956816" cy="182880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965960"/>
            <a:ext cx="438912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00" b="1">
                <a:solidFill>
                  <a:srgbClr val="39D3D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350008"/>
            <a:ext cx="162763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ptos"/>
              </a:defRPr>
            </a:pPr>
            <a:r>
              <a:t>API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807208"/>
            <a:ext cx="16276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pytest</a:t>
            </a:r>
          </a:p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Docker build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8616" y="2743200"/>
            <a:ext cx="274320" cy="0"/>
          </a:xfrm>
          <a:prstGeom prst="line">
            <a:avLst/>
          </a:prstGeom>
          <a:ln w="20320">
            <a:solidFill>
              <a:srgbClr val="39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48656" y="1828800"/>
            <a:ext cx="1956816" cy="182880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3248" y="1965960"/>
            <a:ext cx="438912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00" b="1">
                <a:solidFill>
                  <a:srgbClr val="47D29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350008"/>
            <a:ext cx="162763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807208"/>
            <a:ext cx="16276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Bandit · pip-audit</a:t>
            </a:r>
          </a:p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Gitleaks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32904" y="2743200"/>
            <a:ext cx="274320" cy="0"/>
          </a:xfrm>
          <a:prstGeom prst="line">
            <a:avLst/>
          </a:prstGeom>
          <a:ln w="20320">
            <a:solidFill>
              <a:srgbClr val="47D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52944" y="1828800"/>
            <a:ext cx="1956816" cy="182880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1965960"/>
            <a:ext cx="438912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00" b="1">
                <a:solidFill>
                  <a:srgbClr val="FFBE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2350008"/>
            <a:ext cx="162763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ptos"/>
              </a:defRPr>
            </a:pPr>
            <a:r>
              <a:t>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2807208"/>
            <a:ext cx="16276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Terraform fmt/init/validate</a:t>
            </a:r>
          </a:p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Markdown links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37192" y="2743200"/>
            <a:ext cx="274320" cy="0"/>
          </a:xfrm>
          <a:prstGeom prst="line">
            <a:avLst/>
          </a:prstGeom>
          <a:ln w="2032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57232" y="1828800"/>
            <a:ext cx="1956816" cy="182880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21824" y="1965960"/>
            <a:ext cx="438912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00" b="1">
                <a:solidFill>
                  <a:srgbClr val="5991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21824" y="2350008"/>
            <a:ext cx="162763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ptos"/>
              </a:defRPr>
            </a:pPr>
            <a:r>
              <a:t>Merge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21824" y="2807208"/>
            <a:ext cx="16276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Protected branch</a:t>
            </a:r>
          </a:p>
          <a:p>
            <a:pPr algn="l">
              <a:defRPr sz="1200" b="0">
                <a:solidFill>
                  <a:srgbClr val="A6B7D3"/>
                </a:solidFill>
                <a:latin typeface="Aptos"/>
              </a:defRPr>
            </a:pPr>
            <a:r>
              <a:t>All checks green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29768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4453128"/>
            <a:ext cx="996696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The default pipeline validates and builds; it does not publish an image or provision Azure resources. Deployment is a separate manual release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900" b="1">
                <a:solidFill>
                  <a:srgbClr val="39D3DE"/>
                </a:solidFill>
                <a:latin typeface="Aptos"/>
              </a:defRPr>
            </a:pPr>
            <a:r>
              <a:t>AZURE DEVSECOPS · INVENTORY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Azure release is manual, federated, and approval-gated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800" b="0">
                <a:solidFill>
                  <a:srgbClr val="A6B7D3"/>
                </a:solidFill>
                <a:latin typeface="Aptos"/>
              </a:defRPr>
            </a:pPr>
            <a:r>
              <a:t>CAPSTONE REFERENCE DESIGN  ·  DEMO SCOPE — NOT PRODUCTION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900" b="0">
                <a:solidFill>
                  <a:srgbClr val="A6B7D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1417320"/>
          </a:xfrm>
          <a:prstGeom prst="rect">
            <a:avLst/>
          </a:prstGeom>
          <a:solidFill>
            <a:srgbClr val="5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38528"/>
            <a:ext cx="152704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1 · 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31720"/>
            <a:ext cx="1508760" cy="813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Publish an immutable</a:t>
            </a:r>
          </a:p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container image URI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8288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0360" y="1828800"/>
            <a:ext cx="64008" cy="1417320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81528" y="1938528"/>
            <a:ext cx="152704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2 · Authenticate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331720"/>
            <a:ext cx="1508760" cy="813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GitHub OIDC exchanges</a:t>
            </a:r>
          </a:p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for short-lived Azure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8288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74920" y="1828800"/>
            <a:ext cx="64008" cy="14173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76088" y="1938528"/>
            <a:ext cx="152704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3 ·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331720"/>
            <a:ext cx="1508760" cy="813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Terraform creates a</a:t>
            </a:r>
          </a:p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reviewable plan artifact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8288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69480" y="1828800"/>
            <a:ext cx="64008" cy="1417320"/>
          </a:xfrm>
          <a:prstGeom prst="rect">
            <a:avLst/>
          </a:prstGeom>
          <a:solidFill>
            <a:srgbClr val="47D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70648" y="1938528"/>
            <a:ext cx="152704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4 · Approve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2331720"/>
            <a:ext cx="1508760" cy="813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Protected production</a:t>
            </a:r>
          </a:p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environment reviewers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18288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4203B"/>
          </a:solidFill>
          <a:ln w="15240">
            <a:solidFill>
              <a:srgbClr val="1B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64040" y="1828800"/>
            <a:ext cx="64008" cy="1417320"/>
          </a:xfrm>
          <a:prstGeom prst="rect">
            <a:avLst/>
          </a:prstGeom>
          <a:solidFill>
            <a:srgbClr val="5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65208" y="1938528"/>
            <a:ext cx="152704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5 · Apply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5208" y="2331720"/>
            <a:ext cx="1508760" cy="813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Provision only after</a:t>
            </a:r>
          </a:p>
          <a:p>
            <a:pPr algn="l">
              <a:defRPr sz="1100" b="0">
                <a:solidFill>
                  <a:srgbClr val="A6B7D3"/>
                </a:solidFill>
                <a:latin typeface="Aptos"/>
              </a:defRPr>
            </a:pPr>
            <a:r>
              <a:t>explicit approval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78608" y="2542032"/>
            <a:ext cx="256032" cy="0"/>
          </a:xfrm>
          <a:prstGeom prst="line">
            <a:avLst/>
          </a:prstGeom>
          <a:ln w="20320">
            <a:solidFill>
              <a:srgbClr val="59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73168" y="2542032"/>
            <a:ext cx="256032" cy="0"/>
          </a:xfrm>
          <a:prstGeom prst="line">
            <a:avLst/>
          </a:prstGeom>
          <a:ln w="20320">
            <a:solidFill>
              <a:srgbClr val="39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67727" y="2542032"/>
            <a:ext cx="256033" cy="0"/>
          </a:xfrm>
          <a:prstGeom prst="line">
            <a:avLst/>
          </a:prstGeom>
          <a:ln w="2032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62288" y="2542032"/>
            <a:ext cx="256031" cy="0"/>
          </a:xfrm>
          <a:prstGeom prst="line">
            <a:avLst/>
          </a:prstGeom>
          <a:ln w="20320">
            <a:solidFill>
              <a:srgbClr val="47D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379476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500" b="1">
                <a:solidFill>
                  <a:srgbClr val="39D3DE"/>
                </a:solidFill>
                <a:latin typeface="Aptos"/>
              </a:defRPr>
            </a:pPr>
            <a:r>
              <a:t>Terraform demo resources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82296" cy="82296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8" y="4206240"/>
            <a:ext cx="487375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Resource group + Log Analytics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764024"/>
            <a:ext cx="82296" cy="82296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8408" y="4617720"/>
            <a:ext cx="487375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Storage account + Azure Files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175504"/>
            <a:ext cx="82296" cy="82296"/>
          </a:xfrm>
          <a:prstGeom prst="rect">
            <a:avLst/>
          </a:prstGeom>
          <a:solidFill>
            <a:srgbClr val="39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8408" y="5029200"/>
            <a:ext cx="487375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Container Apps environment + API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79476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500" b="1">
                <a:solidFill>
                  <a:srgbClr val="FFBE5C"/>
                </a:solidFill>
                <a:latin typeface="Aptos"/>
              </a:defRPr>
            </a:pPr>
            <a:r>
              <a:t>Before running a deployment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352544"/>
            <a:ext cx="82296" cy="82296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9088" y="4206240"/>
            <a:ext cx="482803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Bootstrap private Blob remote state separately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764024"/>
            <a:ext cx="82296" cy="82296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19088" y="4617720"/>
            <a:ext cx="482803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Check permissions, regional availability, and cost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175504"/>
            <a:ext cx="82296" cy="82296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19088" y="5029200"/>
            <a:ext cx="482803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Use real subscription variables and review the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462</Words>
  <Application>Microsoft Office PowerPoint</Application>
  <PresentationFormat>Widescreen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</cp:lastModifiedBy>
  <cp:revision>2</cp:revision>
  <dcterms:created xsi:type="dcterms:W3CDTF">2013-01-27T09:14:16Z</dcterms:created>
  <dcterms:modified xsi:type="dcterms:W3CDTF">2026-10-07T08:46:55Z</dcterms:modified>
  <cp:category/>
</cp:coreProperties>
</file>